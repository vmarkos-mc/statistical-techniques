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F54C33-81C5-3548-B335-E5A5B7543913}" v="1" dt="2021-10-04T07:38:37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48"/>
    <p:restoredTop sz="95862"/>
  </p:normalViewPr>
  <p:slideViewPr>
    <p:cSldViewPr snapToGrid="0" snapToObjects="1">
      <p:cViewPr varScale="1">
        <p:scale>
          <a:sx n="123" d="100"/>
          <a:sy n="123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 Barnby" userId="39f99d8d-e7e3-4c24-8daa-b8927982594d" providerId="ADAL" clId="{DE20ECC9-64D4-2148-B9B5-8F14ABFAD916}"/>
    <pc:docChg chg="modSld">
      <pc:chgData name="Lee Barnby" userId="39f99d8d-e7e3-4c24-8daa-b8927982594d" providerId="ADAL" clId="{DE20ECC9-64D4-2148-B9B5-8F14ABFAD916}" dt="2020-10-09T07:52:53.409" v="24" actId="20577"/>
      <pc:docMkLst>
        <pc:docMk/>
      </pc:docMkLst>
      <pc:sldChg chg="modSp mod">
        <pc:chgData name="Lee Barnby" userId="39f99d8d-e7e3-4c24-8daa-b8927982594d" providerId="ADAL" clId="{DE20ECC9-64D4-2148-B9B5-8F14ABFAD916}" dt="2020-10-09T07:50:36.426" v="19" actId="20577"/>
        <pc:sldMkLst>
          <pc:docMk/>
          <pc:sldMk cId="1408652796" sldId="256"/>
        </pc:sldMkLst>
        <pc:spChg chg="mod">
          <ac:chgData name="Lee Barnby" userId="39f99d8d-e7e3-4c24-8daa-b8927982594d" providerId="ADAL" clId="{DE20ECC9-64D4-2148-B9B5-8F14ABFAD916}" dt="2020-10-09T07:50:11.464" v="5" actId="20577"/>
          <ac:spMkLst>
            <pc:docMk/>
            <pc:sldMk cId="1408652796" sldId="256"/>
            <ac:spMk id="3" creationId="{00000000-0000-0000-0000-000000000000}"/>
          </ac:spMkLst>
        </pc:spChg>
        <pc:spChg chg="mod">
          <ac:chgData name="Lee Barnby" userId="39f99d8d-e7e3-4c24-8daa-b8927982594d" providerId="ADAL" clId="{DE20ECC9-64D4-2148-B9B5-8F14ABFAD916}" dt="2020-10-09T07:50:36.426" v="19" actId="20577"/>
          <ac:spMkLst>
            <pc:docMk/>
            <pc:sldMk cId="1408652796" sldId="256"/>
            <ac:spMk id="4" creationId="{00000000-0000-0000-0000-000000000000}"/>
          </ac:spMkLst>
        </pc:spChg>
      </pc:sldChg>
      <pc:sldChg chg="modSp mod">
        <pc:chgData name="Lee Barnby" userId="39f99d8d-e7e3-4c24-8daa-b8927982594d" providerId="ADAL" clId="{DE20ECC9-64D4-2148-B9B5-8F14ABFAD916}" dt="2020-10-09T07:52:10.427" v="20" actId="114"/>
        <pc:sldMkLst>
          <pc:docMk/>
          <pc:sldMk cId="356382148" sldId="260"/>
        </pc:sldMkLst>
        <pc:spChg chg="mod">
          <ac:chgData name="Lee Barnby" userId="39f99d8d-e7e3-4c24-8daa-b8927982594d" providerId="ADAL" clId="{DE20ECC9-64D4-2148-B9B5-8F14ABFAD916}" dt="2020-10-09T07:52:10.427" v="20" actId="114"/>
          <ac:spMkLst>
            <pc:docMk/>
            <pc:sldMk cId="356382148" sldId="260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DE20ECC9-64D4-2148-B9B5-8F14ABFAD916}" dt="2020-10-09T07:52:53.409" v="24" actId="20577"/>
        <pc:sldMkLst>
          <pc:docMk/>
          <pc:sldMk cId="606204832" sldId="264"/>
        </pc:sldMkLst>
        <pc:spChg chg="mod">
          <ac:chgData name="Lee Barnby" userId="39f99d8d-e7e3-4c24-8daa-b8927982594d" providerId="ADAL" clId="{DE20ECC9-64D4-2148-B9B5-8F14ABFAD916}" dt="2020-10-09T07:52:53.409" v="24" actId="20577"/>
          <ac:spMkLst>
            <pc:docMk/>
            <pc:sldMk cId="606204832" sldId="26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2FD0A-8C85-2341-8049-1E6522B17084}" type="datetimeFigureOut">
              <a:rPr lang="en-US" smtClean="0"/>
              <a:t>10/3/23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E91AB-7CEE-4F42-885A-AA6627AD1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76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5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3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31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19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32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5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0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Tutorial: Histograms, Random Numbers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 err="1"/>
              <a:t>Dr</a:t>
            </a:r>
            <a:r>
              <a:rPr lang="en-US" i="1" dirty="0"/>
              <a:t> Lee Barnby </a:t>
            </a:r>
          </a:p>
          <a:p>
            <a:r>
              <a:rPr lang="en-US" dirty="0"/>
              <a:t>School of Computing and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36795" y="5349875"/>
            <a:ext cx="399019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7MA505</a:t>
            </a:r>
            <a:r>
              <a:rPr lang="en-US" sz="2400" dirty="0"/>
              <a:t> Statistical Techniques</a:t>
            </a:r>
          </a:p>
          <a:p>
            <a:r>
              <a:rPr lang="en-US" sz="2400" dirty="0"/>
              <a:t>Week 2, Autumn Semester</a:t>
            </a:r>
          </a:p>
        </p:txBody>
      </p:sp>
      <p:pic>
        <p:nvPicPr>
          <p:cNvPr id="5" name="Picture 4" descr="University of Derby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388" y="4913607"/>
            <a:ext cx="3812662" cy="1703531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652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definition, histogram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x &lt;- c(121, 82, 100, 151, 68, 58, 95, 145, 64, 201, 101, 163, 84, 57, 139, 60, 78, 94, 119, 104, 110, 113, 118, 203, 62, 83, 67, 93, 92, 110, 25, 123, 70, 48, 95, 42) </a:t>
            </a:r>
          </a:p>
          <a:p>
            <a:pPr lvl="1"/>
            <a:r>
              <a:rPr lang="fi-FI" dirty="0"/>
              <a:t>C</a:t>
            </a:r>
            <a:r>
              <a:rPr lang="en-US" dirty="0"/>
              <a:t>an be copied and pasted into your R session (no need to type!)</a:t>
            </a:r>
          </a:p>
          <a:p>
            <a:r>
              <a:rPr lang="mr-IN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xh</a:t>
            </a:r>
            <a:r>
              <a:rPr lang="mr-IN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 &lt;- </a:t>
            </a:r>
            <a:r>
              <a:rPr lang="mr-IN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hist</a:t>
            </a:r>
            <a:r>
              <a:rPr lang="mr-IN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(</a:t>
            </a:r>
            <a:r>
              <a:rPr lang="mr-IN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x</a:t>
            </a:r>
            <a:r>
              <a:rPr lang="mr-IN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) </a:t>
            </a:r>
          </a:p>
          <a:p>
            <a:pPr lvl="1"/>
            <a:r>
              <a:rPr lang="en-US" dirty="0"/>
              <a:t>Create a histogram using the data stored in x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names(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xh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)</a:t>
            </a:r>
          </a:p>
          <a:p>
            <a:pPr lvl="1"/>
            <a:r>
              <a:rPr lang="en-US" dirty="0"/>
              <a:t>Check the various histogram properties. </a:t>
            </a:r>
            <a:r>
              <a:rPr lang="en-US" dirty="0" err="1"/>
              <a:t>Eg</a:t>
            </a:r>
            <a:endParaRPr lang="en-US" dirty="0"/>
          </a:p>
          <a:p>
            <a:pPr lvl="1"/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xh$counts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   </a:t>
            </a:r>
            <a:r>
              <a:rPr lang="en-US" dirty="0">
                <a:solidFill>
                  <a:srgbClr val="7030A0"/>
                </a:solidFill>
              </a:rPr>
              <a:t># Counts per histogram bin</a:t>
            </a:r>
          </a:p>
          <a:p>
            <a:pPr lvl="1"/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xh$breaks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   </a:t>
            </a:r>
            <a:r>
              <a:rPr lang="en-US" dirty="0">
                <a:solidFill>
                  <a:srgbClr val="7030A0"/>
                </a:solidFill>
              </a:rPr>
              <a:t># Check the breaks in histogram bins</a:t>
            </a:r>
          </a:p>
          <a:p>
            <a:pPr lvl="1"/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xh$counts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/36   </a:t>
            </a:r>
            <a:r>
              <a:rPr lang="en-US" dirty="0">
                <a:solidFill>
                  <a:srgbClr val="7030A0"/>
                </a:solidFill>
              </a:rPr>
              <a:t># Relative frequencies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29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 plotting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plot(1:10, </a:t>
            </a:r>
            <a:r>
              <a:rPr lang="en-US" dirty="0" err="1"/>
              <a:t>xh$counts</a:t>
            </a:r>
            <a:r>
              <a:rPr lang="en-US" dirty="0"/>
              <a:t>/36, type="l", main="Relative frequencies")</a:t>
            </a:r>
          </a:p>
          <a:p>
            <a:pPr lvl="1"/>
            <a:r>
              <a:rPr lang="en-US" dirty="0"/>
              <a:t>Try changing things </a:t>
            </a:r>
          </a:p>
          <a:p>
            <a:pPr lvl="1"/>
            <a:endParaRPr lang="en-US" dirty="0"/>
          </a:p>
          <a:p>
            <a:r>
              <a:rPr lang="en-US" dirty="0"/>
              <a:t>plot(</a:t>
            </a:r>
            <a:r>
              <a:rPr lang="en-US" dirty="0" err="1"/>
              <a:t>ecdf</a:t>
            </a:r>
            <a:r>
              <a:rPr lang="en-US" dirty="0"/>
              <a:t>(x),verticals=TRUE, </a:t>
            </a:r>
            <a:r>
              <a:rPr lang="en-US" dirty="0" err="1"/>
              <a:t>col.points</a:t>
            </a:r>
            <a:r>
              <a:rPr lang="en-US" dirty="0"/>
              <a:t>="blue") </a:t>
            </a:r>
          </a:p>
          <a:p>
            <a:pPr lvl="1"/>
            <a:r>
              <a:rPr lang="en-US" dirty="0" err="1"/>
              <a:t>ecdf</a:t>
            </a:r>
            <a:r>
              <a:rPr lang="en-US" dirty="0"/>
              <a:t>() is the ‘empirical cumulative distribution function’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Try the following:</a:t>
            </a:r>
          </a:p>
          <a:p>
            <a:pPr lvl="1"/>
            <a:r>
              <a:rPr lang="en-US" dirty="0" err="1"/>
              <a:t>plot.ecdf</a:t>
            </a:r>
            <a:r>
              <a:rPr lang="en-US" dirty="0"/>
              <a:t>(</a:t>
            </a:r>
            <a:r>
              <a:rPr lang="en-US" dirty="0" err="1"/>
              <a:t>rnorm</a:t>
            </a:r>
            <a:r>
              <a:rPr lang="en-US" dirty="0"/>
              <a:t>(1000), verticals=TRUE, </a:t>
            </a:r>
            <a:r>
              <a:rPr lang="en-US" dirty="0" err="1"/>
              <a:t>col.points</a:t>
            </a:r>
            <a:r>
              <a:rPr lang="en-US" dirty="0"/>
              <a:t>="blue")</a:t>
            </a:r>
          </a:p>
          <a:p>
            <a:pPr lvl="1"/>
            <a:r>
              <a:rPr lang="en-US" dirty="0"/>
              <a:t>plot(</a:t>
            </a:r>
            <a:r>
              <a:rPr lang="en-US" dirty="0" err="1"/>
              <a:t>ecdf</a:t>
            </a:r>
            <a:r>
              <a:rPr lang="en-US" dirty="0"/>
              <a:t>(</a:t>
            </a:r>
            <a:r>
              <a:rPr lang="en-US" dirty="0" err="1"/>
              <a:t>rnorm</a:t>
            </a:r>
            <a:r>
              <a:rPr lang="en-US" dirty="0"/>
              <a:t>(1000)), verticals=TRUE, </a:t>
            </a:r>
            <a:r>
              <a:rPr lang="en-US" dirty="0" err="1"/>
              <a:t>col.points</a:t>
            </a:r>
            <a:r>
              <a:rPr lang="en-US" dirty="0"/>
              <a:t>="blue") </a:t>
            </a:r>
          </a:p>
          <a:p>
            <a:r>
              <a:rPr lang="en-US" dirty="0"/>
              <a:t>Change the histogram binning </a:t>
            </a:r>
            <a:r>
              <a:rPr lang="en-US" dirty="0" err="1"/>
              <a:t>i.e</a:t>
            </a:r>
            <a:r>
              <a:rPr lang="en-US" dirty="0"/>
              <a:t> the breaks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965576" y="580052"/>
            <a:ext cx="151951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a lower case letter ‘L’ not the number one</a:t>
            </a: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 flipH="1">
            <a:off x="5795682" y="1343987"/>
            <a:ext cx="1169894" cy="502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194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 beautification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Ideally the histogram representing the data should make sense on its own</a:t>
            </a:r>
          </a:p>
          <a:p>
            <a:pPr lvl="1"/>
            <a:r>
              <a:rPr lang="en-US" dirty="0"/>
              <a:t>Have an informative title (also for the axes)</a:t>
            </a:r>
          </a:p>
          <a:p>
            <a:pPr lvl="1"/>
            <a:r>
              <a:rPr lang="en-US" dirty="0"/>
              <a:t>Have labelled axis</a:t>
            </a:r>
          </a:p>
          <a:p>
            <a:pPr lvl="1"/>
            <a:r>
              <a:rPr lang="en-US" dirty="0"/>
              <a:t>Have sensible </a:t>
            </a:r>
            <a:r>
              <a:rPr lang="en-US" dirty="0" err="1"/>
              <a:t>colours</a:t>
            </a:r>
            <a:r>
              <a:rPr lang="en-US" dirty="0"/>
              <a:t> and symbols</a:t>
            </a:r>
          </a:p>
          <a:p>
            <a:pPr lvl="1"/>
            <a:r>
              <a:rPr lang="en-US" dirty="0"/>
              <a:t>Etc.</a:t>
            </a:r>
          </a:p>
          <a:p>
            <a:pPr lvl="1"/>
            <a:endParaRPr lang="en-US" dirty="0"/>
          </a:p>
          <a:p>
            <a:r>
              <a:rPr lang="en-US" dirty="0"/>
              <a:t>Be saved to disk for future modification</a:t>
            </a:r>
          </a:p>
          <a:p>
            <a:r>
              <a:rPr lang="en-US" dirty="0"/>
              <a:t>Be saved as a picture for inclusion in a report, online etc.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34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 </a:t>
            </a:r>
            <a:r>
              <a:rPr lang="mr-IN" dirty="0"/>
              <a:t>–</a:t>
            </a:r>
            <a:r>
              <a:rPr lang="en-US" dirty="0"/>
              <a:t> Random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rnorm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()</a:t>
            </a:r>
            <a:r>
              <a:rPr lang="en-US" dirty="0">
                <a:latin typeface="Lucida Sans Typewriter" charset="0"/>
                <a:ea typeface="Lucida Sans Typewriter" charset="0"/>
                <a:cs typeface="Lucida Sans Typewriter" charset="0"/>
              </a:rPr>
              <a:t> </a:t>
            </a:r>
            <a:r>
              <a:rPr lang="en-US" dirty="0"/>
              <a:t>and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runif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()</a:t>
            </a:r>
            <a:r>
              <a:rPr lang="en-US" dirty="0">
                <a:latin typeface="Lucida Sans Typewriter" charset="0"/>
                <a:ea typeface="Lucida Sans Typewriter" charset="0"/>
                <a:cs typeface="Lucida Sans Typewriter" charset="0"/>
              </a:rPr>
              <a:t> </a:t>
            </a:r>
            <a:r>
              <a:rPr lang="en-US" dirty="0"/>
              <a:t>functions can generate random data</a:t>
            </a:r>
          </a:p>
          <a:p>
            <a:r>
              <a:rPr lang="en-US" dirty="0"/>
              <a:t>Generate values. (Say, 50 values.)</a:t>
            </a:r>
          </a:p>
          <a:p>
            <a:pPr lvl="1"/>
            <a:r>
              <a:rPr lang="en-US" dirty="0"/>
              <a:t>Plot their histograms.</a:t>
            </a:r>
          </a:p>
          <a:p>
            <a:pPr lvl="1"/>
            <a:r>
              <a:rPr lang="en-US" b="1" dirty="0"/>
              <a:t>Determine </a:t>
            </a:r>
            <a:r>
              <a:rPr lang="en-US" dirty="0"/>
              <a:t>their</a:t>
            </a:r>
            <a:r>
              <a:rPr lang="en-US" b="1" dirty="0"/>
              <a:t> means </a:t>
            </a:r>
            <a:r>
              <a:rPr lang="en-US" dirty="0"/>
              <a:t>and</a:t>
            </a:r>
            <a:r>
              <a:rPr lang="en-US" b="1" dirty="0"/>
              <a:t> standard deviations</a:t>
            </a:r>
            <a:r>
              <a:rPr lang="en-US" dirty="0"/>
              <a:t>. </a:t>
            </a:r>
          </a:p>
          <a:p>
            <a:r>
              <a:rPr lang="en-US" dirty="0"/>
              <a:t>Repeat.</a:t>
            </a:r>
          </a:p>
          <a:p>
            <a:pPr lvl="1"/>
            <a:r>
              <a:rPr lang="en-US" dirty="0"/>
              <a:t>Are the results roughly the same?</a:t>
            </a:r>
          </a:p>
          <a:p>
            <a:pPr lvl="1"/>
            <a:r>
              <a:rPr lang="en-US" dirty="0"/>
              <a:t>More importantly, are the results </a:t>
            </a:r>
            <a:r>
              <a:rPr lang="en-US" i="1" dirty="0"/>
              <a:t>identical</a:t>
            </a:r>
            <a:r>
              <a:rPr lang="en-US" dirty="0"/>
              <a:t>? </a:t>
            </a:r>
          </a:p>
          <a:p>
            <a:r>
              <a:rPr lang="en-US" dirty="0"/>
              <a:t>E.g. 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sample1&lt;-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runif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(6) </a:t>
            </a:r>
          </a:p>
          <a:p>
            <a:r>
              <a:rPr lang="en-US" dirty="0"/>
              <a:t>Repeat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sample2 &lt;-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runif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(6)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/>
              <a:t>,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  <a:cs typeface="Simplified Arabic Fixed" panose="02070309020205020404" pitchFamily="49" charset="-78"/>
              </a:rPr>
              <a:t>sample3 &lt;-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  <a:cs typeface="Simplified Arabic Fixed" panose="02070309020205020404" pitchFamily="49" charset="-78"/>
              </a:rPr>
              <a:t>runif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  <a:cs typeface="Simplified Arabic Fixed" panose="02070309020205020404" pitchFamily="49" charset="-78"/>
              </a:rPr>
              <a:t>(6) </a:t>
            </a:r>
          </a:p>
          <a:p>
            <a:r>
              <a:rPr lang="en-US" dirty="0"/>
              <a:t>Are the same values each time? </a:t>
            </a:r>
          </a:p>
          <a:p>
            <a:pPr lvl="1"/>
            <a:r>
              <a:rPr lang="en-US" dirty="0"/>
              <a:t>If not, why not?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82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numbers with seeds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Repeat, but doing the following prior to generating the values: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  <a:ea typeface="Lucida Sans Typewriter" charset="0"/>
                <a:cs typeface="Lucida Sans Typewriter" charset="0"/>
              </a:rPr>
              <a:t>set.seed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  <a:ea typeface="Lucida Sans Typewriter" charset="0"/>
                <a:cs typeface="Lucida Sans Typewriter" charset="0"/>
              </a:rPr>
              <a:t>(5413)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93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probability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the following</a:t>
            </a:r>
          </a:p>
          <a:p>
            <a:pPr lvl="1"/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pnorm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(3, 0, 1) </a:t>
            </a:r>
          </a:p>
          <a:p>
            <a:pPr lvl="1"/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pnorm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(2, 0, 1) </a:t>
            </a:r>
          </a:p>
          <a:p>
            <a:pPr lvl="1"/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pnorm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(1, 0, 1) </a:t>
            </a:r>
          </a:p>
          <a:p>
            <a:pPr lvl="1"/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round(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pnorm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(1, 0, 1), 3)*100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round(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pnorm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(2, 0, 1), 3)*100 </a:t>
            </a:r>
          </a:p>
          <a:p>
            <a:pPr lvl="1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round(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pnorm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(3, 0, 1), 3)*100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On the next slide correct output appears by each command (as a comment #)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49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probability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the following</a:t>
            </a:r>
          </a:p>
          <a:p>
            <a:pPr lvl="1"/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pnorm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(3, 0, 1) </a:t>
            </a:r>
            <a:r>
              <a:rPr lang="en-US" dirty="0"/>
              <a:t># 0.9986501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pnorm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(2, 0, 1) </a:t>
            </a:r>
            <a:r>
              <a:rPr lang="en-US" dirty="0"/>
              <a:t># 0.9772499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pnorm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(1, 0, 1) </a:t>
            </a:r>
            <a:r>
              <a:rPr lang="en-US" dirty="0"/>
              <a:t># 0.8413447 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round(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pnorm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(1, 0, 1), 3)*100 </a:t>
            </a:r>
            <a:r>
              <a:rPr lang="en-US" dirty="0"/>
              <a:t># 84.1 </a:t>
            </a:r>
          </a:p>
          <a:p>
            <a:pPr lvl="1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round(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pnorm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(2, 0, 1), 3)*100 </a:t>
            </a:r>
            <a:r>
              <a:rPr lang="en-US" dirty="0"/>
              <a:t># 97.7 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round(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pnorm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(3, 0, 1), 3)*100 </a:t>
            </a:r>
            <a:r>
              <a:rPr lang="en-US" dirty="0"/>
              <a:t># 99.9 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50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Limit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 show that data, in this case sampled from a uniform distribution, approaches being normal as the sample size increases.</a:t>
            </a:r>
          </a:p>
          <a:p>
            <a:r>
              <a:rPr lang="en-US" dirty="0"/>
              <a:t>Try the following</a:t>
            </a:r>
          </a:p>
          <a:p>
            <a:pPr lvl="1"/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dice1 &lt;- floor(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runif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(10000,1,7))</a:t>
            </a:r>
          </a:p>
          <a:p>
            <a:pPr lvl="1"/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hist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(dice1) </a:t>
            </a:r>
          </a:p>
          <a:p>
            <a:r>
              <a:rPr lang="en-US" dirty="0"/>
              <a:t>Next, the use of further dice. Here is a simple way to do this. </a:t>
            </a:r>
          </a:p>
          <a:p>
            <a:pPr lvl="1"/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dice2 &lt;- floor(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runif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(10000,1,7)) </a:t>
            </a:r>
            <a:r>
              <a:rPr lang="en-US" dirty="0"/>
              <a:t># Note: new random nos. generated each time. </a:t>
            </a:r>
          </a:p>
          <a:p>
            <a:pPr lvl="1"/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dice3 &lt;- floor(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runif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(10000,1,7)))</a:t>
            </a:r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dice10 &lt;- floor(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runif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(10000,1,7)) 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204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Rolling the dice…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909300" cy="4351338"/>
          </a:xfrm>
        </p:spPr>
        <p:txBody>
          <a:bodyPr/>
          <a:lstStyle/>
          <a:p>
            <a:r>
              <a:rPr lang="en-US" dirty="0"/>
              <a:t>We want the average of the set of throws, each time there is a set of throws of the dice. </a:t>
            </a:r>
          </a:p>
          <a:p>
            <a:pPr lvl="1"/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hist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((dice1+dice2)/2)</a:t>
            </a:r>
            <a:r>
              <a:rPr lang="en-US" sz="1800" dirty="0"/>
              <a:t> </a:t>
            </a:r>
          </a:p>
          <a:p>
            <a:pPr lvl="1"/>
            <a:r>
              <a:rPr lang="en-US" sz="1800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hist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((dice1+dice2+dice3+dice4+dice5+dice6+dice7+ dice8+dice9+dice10)/10) </a:t>
            </a:r>
          </a:p>
          <a:p>
            <a:r>
              <a:rPr lang="en-US" dirty="0"/>
              <a:t>What about</a:t>
            </a:r>
          </a:p>
          <a:p>
            <a:pPr lvl="1"/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hist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77"/>
              </a:rPr>
              <a:t>(mean(dice1+dice2))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41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 October 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11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099" y="1825625"/>
            <a:ext cx="7363802" cy="4351338"/>
          </a:xfrm>
        </p:spPr>
      </p:pic>
    </p:spTree>
    <p:extLst>
      <p:ext uri="{BB962C8B-B14F-4D97-AF65-F5344CB8AC3E}">
        <p14:creationId xmlns:p14="http://schemas.microsoft.com/office/powerpoint/2010/main" val="640057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5MA506_201718" id="{8D26E623-CBF8-CB42-8E94-67EAAD334EF5}" vid="{E7CF6961-1DE9-9544-BB11-275F2066669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Έγγραφο" ma:contentTypeID="0x010100A8E9AC2D8CFB8B41AABCC159999A4638" ma:contentTypeVersion="3" ma:contentTypeDescription="Δημιουργία νέου εγγράφου" ma:contentTypeScope="" ma:versionID="02d7452c1351a26e008847a89c774335">
  <xsd:schema xmlns:xsd="http://www.w3.org/2001/XMLSchema" xmlns:xs="http://www.w3.org/2001/XMLSchema" xmlns:p="http://schemas.microsoft.com/office/2006/metadata/properties" xmlns:ns2="4cb626c9-b1d3-40fc-bfd5-902d07b155e1" targetNamespace="http://schemas.microsoft.com/office/2006/metadata/properties" ma:root="true" ma:fieldsID="ffc36a5eaba856025c0230ad6c0aedf9" ns2:_="">
    <xsd:import namespace="4cb626c9-b1d3-40fc-bfd5-902d07b155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b626c9-b1d3-40fc-bfd5-902d07b155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Τύπος περιεχομένου"/>
        <xsd:element ref="dc:title" minOccurs="0" maxOccurs="1" ma:index="4" ma:displayName="Τίτλο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F21D9A2-9C3C-41C6-A9EF-7B82FF2D4520}"/>
</file>

<file path=customXml/itemProps2.xml><?xml version="1.0" encoding="utf-8"?>
<ds:datastoreItem xmlns:ds="http://schemas.openxmlformats.org/officeDocument/2006/customXml" ds:itemID="{0F890B0E-A3AE-49FA-A9D5-03954849335D}"/>
</file>

<file path=customXml/itemProps3.xml><?xml version="1.0" encoding="utf-8"?>
<ds:datastoreItem xmlns:ds="http://schemas.openxmlformats.org/officeDocument/2006/customXml" ds:itemID="{7E33B9B0-0570-4771-A1CC-6159534EF602}"/>
</file>

<file path=docProps/app.xml><?xml version="1.0" encoding="utf-8"?>
<Properties xmlns="http://schemas.openxmlformats.org/officeDocument/2006/extended-properties" xmlns:vt="http://schemas.openxmlformats.org/officeDocument/2006/docPropsVTypes">
  <Template>5MA506_201718</Template>
  <TotalTime>213</TotalTime>
  <Words>944</Words>
  <Application>Microsoft Macintosh PowerPoint</Application>
  <PresentationFormat>Widescreen</PresentationFormat>
  <Paragraphs>123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Lucida Sans Typewriter</vt:lpstr>
      <vt:lpstr>Office Theme</vt:lpstr>
      <vt:lpstr>Tutorial: Histograms, Random Numbers</vt:lpstr>
      <vt:lpstr>Dataset definition, histogram creation</vt:lpstr>
      <vt:lpstr>Histogram plotting</vt:lpstr>
      <vt:lpstr>Histogram beautification</vt:lpstr>
      <vt:lpstr>Part 2 – Random numbers</vt:lpstr>
      <vt:lpstr>Random numbers with seeds</vt:lpstr>
      <vt:lpstr>Built-in probability functions</vt:lpstr>
      <vt:lpstr>Built-in probability functions</vt:lpstr>
      <vt:lpstr>Central Limit Theorem</vt:lpstr>
      <vt:lpstr>Rolling the dice…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Measures and Randomness</dc:title>
  <dc:creator>Lee Barnby</dc:creator>
  <cp:lastModifiedBy>Lee Barnby</cp:lastModifiedBy>
  <cp:revision>8</cp:revision>
  <dcterms:created xsi:type="dcterms:W3CDTF">2017-09-25T10:41:16Z</dcterms:created>
  <dcterms:modified xsi:type="dcterms:W3CDTF">2023-10-03T15:55:44Z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0x010100A8E9AC2D8CFB8B41AABCC159999A4638</vt:lpwstr>
  </property>
</Properties>
</file>