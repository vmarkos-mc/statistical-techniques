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477CF-524A-E045-8139-6A7E066C138A}" v="1" dt="2024-09-23T12:45:47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89"/>
    <p:restoredTop sz="94730"/>
  </p:normalViewPr>
  <p:slideViewPr>
    <p:cSldViewPr snapToGrid="0" snapToObjects="1">
      <p:cViewPr>
        <p:scale>
          <a:sx n="50" d="100"/>
          <a:sy n="50" d="100"/>
        </p:scale>
        <p:origin x="1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Barnby" userId="39f99d8d-e7e3-4c24-8daa-b8927982594d" providerId="ADAL" clId="{0EE477CF-524A-E045-8139-6A7E066C138A}"/>
    <pc:docChg chg="modSld">
      <pc:chgData name="Lee Barnby" userId="39f99d8d-e7e3-4c24-8daa-b8927982594d" providerId="ADAL" clId="{0EE477CF-524A-E045-8139-6A7E066C138A}" dt="2024-09-23T12:45:18.602" v="0" actId="20577"/>
      <pc:docMkLst>
        <pc:docMk/>
      </pc:docMkLst>
      <pc:sldChg chg="modSp mod">
        <pc:chgData name="Lee Barnby" userId="39f99d8d-e7e3-4c24-8daa-b8927982594d" providerId="ADAL" clId="{0EE477CF-524A-E045-8139-6A7E066C138A}" dt="2024-09-23T12:45:18.602" v="0" actId="20577"/>
        <pc:sldMkLst>
          <pc:docMk/>
          <pc:sldMk cId="1408652796" sldId="256"/>
        </pc:sldMkLst>
        <pc:spChg chg="mod">
          <ac:chgData name="Lee Barnby" userId="39f99d8d-e7e3-4c24-8daa-b8927982594d" providerId="ADAL" clId="{0EE477CF-524A-E045-8139-6A7E066C138A}" dt="2024-09-23T12:45:18.602" v="0" actId="20577"/>
          <ac:spMkLst>
            <pc:docMk/>
            <pc:sldMk cId="1408652796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83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37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80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16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08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Introduction to Statistical Techniques  - Tutorial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Dr</a:t>
            </a:r>
            <a:r>
              <a:rPr lang="en-US" i="1" dirty="0"/>
              <a:t> Lee Barnby </a:t>
            </a:r>
          </a:p>
          <a:p>
            <a:r>
              <a:rPr lang="en-US" dirty="0"/>
              <a:t>School of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39917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</a:t>
            </a:r>
          </a:p>
          <a:p>
            <a:r>
              <a:rPr lang="en-US" sz="2400" dirty="0"/>
              <a:t>Week 1, Autumn Semester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8305" y="5092234"/>
            <a:ext cx="3013095" cy="1346277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23-27 September 2024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L.Barnby@derby.ac.uk - 7MA505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>
                <a:solidFill>
                  <a:schemeClr val="tx1"/>
                </a:solidFill>
              </a:rPr>
              <a:t>1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Start up ‘R’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Via “Apps Anywhere” in Windows 10</a:t>
            </a:r>
          </a:p>
          <a:p>
            <a:r>
              <a:rPr lang="en-US" dirty="0"/>
              <a:t>Find ‘R Studio’ (use 2022 edition) and install it</a:t>
            </a:r>
          </a:p>
          <a:p>
            <a:r>
              <a:rPr lang="en-US" dirty="0"/>
              <a:t>It will also install ‘R’ as a dependency</a:t>
            </a:r>
          </a:p>
          <a:p>
            <a:r>
              <a:rPr lang="en-US" dirty="0"/>
              <a:t>It should  automatically launch and can later be launched from ’</a:t>
            </a:r>
            <a:r>
              <a:rPr lang="en-US" dirty="0" err="1"/>
              <a:t>Cloudpaging</a:t>
            </a:r>
            <a:r>
              <a:rPr lang="en-US" dirty="0"/>
              <a:t> Player’</a:t>
            </a:r>
          </a:p>
          <a:p>
            <a:endParaRPr lang="en-US" dirty="0"/>
          </a:p>
          <a:p>
            <a:r>
              <a:rPr lang="en-US" dirty="0"/>
              <a:t>The R studio window should have a ‘Console’ pane for entering text plus a couple of others where variable values and files are displayed</a:t>
            </a:r>
          </a:p>
          <a:p>
            <a:endParaRPr lang="en-US" dirty="0"/>
          </a:p>
          <a:p>
            <a:r>
              <a:rPr lang="en-US" dirty="0"/>
              <a:t>Type ‘</a:t>
            </a:r>
            <a:r>
              <a:rPr lang="en-US" b="1" dirty="0" err="1">
                <a:latin typeface="Lucida Sans Typewriter" charset="0"/>
                <a:ea typeface="Lucida Sans Typewriter" charset="0"/>
                <a:cs typeface="Lucida Sans Typewriter" charset="0"/>
              </a:rPr>
              <a:t>getwd</a:t>
            </a:r>
            <a:r>
              <a:rPr lang="en-US" b="1" dirty="0">
                <a:latin typeface="Lucida Sans Typewriter" charset="0"/>
                <a:ea typeface="Lucida Sans Typewriter" charset="0"/>
                <a:cs typeface="Lucida Sans Typewriter" charset="0"/>
              </a:rPr>
              <a:t>()</a:t>
            </a:r>
            <a:r>
              <a:rPr lang="en-US" dirty="0"/>
              <a:t>’ in the console</a:t>
            </a:r>
          </a:p>
          <a:p>
            <a:r>
              <a:rPr lang="en-US" dirty="0"/>
              <a:t>You should recognize the output!</a:t>
            </a:r>
          </a:p>
          <a:p>
            <a:r>
              <a:rPr lang="en-US" dirty="0"/>
              <a:t>A similar command ‘</a:t>
            </a:r>
            <a:r>
              <a:rPr lang="en-US" b="1" dirty="0" err="1">
                <a:latin typeface="Lucida Sans Typewriter" charset="0"/>
                <a:ea typeface="Lucida Sans Typewriter" charset="0"/>
                <a:cs typeface="Lucida Sans Typewriter" charset="0"/>
              </a:rPr>
              <a:t>setwd</a:t>
            </a:r>
            <a:r>
              <a:rPr lang="en-US" b="1" dirty="0">
                <a:latin typeface="Lucida Sans Typewriter" charset="0"/>
                <a:ea typeface="Lucida Sans Typewriter" charset="0"/>
                <a:cs typeface="Lucida Sans Typewriter" charset="0"/>
              </a:rPr>
              <a:t>()</a:t>
            </a:r>
            <a:r>
              <a:rPr lang="en-US" dirty="0"/>
              <a:t>’ ’ is available to control where files are saved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12992-DAAB-C448-9208-5300BD022F83}"/>
              </a:ext>
            </a:extLst>
          </p:cNvPr>
          <p:cNvSpPr txBox="1"/>
          <p:nvPr/>
        </p:nvSpPr>
        <p:spPr>
          <a:xfrm>
            <a:off x="6918593" y="925416"/>
            <a:ext cx="4538949" cy="923330"/>
          </a:xfrm>
          <a:custGeom>
            <a:avLst/>
            <a:gdLst>
              <a:gd name="connsiteX0" fmla="*/ 0 w 4538949"/>
              <a:gd name="connsiteY0" fmla="*/ 0 h 923330"/>
              <a:gd name="connsiteX1" fmla="*/ 521979 w 4538949"/>
              <a:gd name="connsiteY1" fmla="*/ 0 h 923330"/>
              <a:gd name="connsiteX2" fmla="*/ 953179 w 4538949"/>
              <a:gd name="connsiteY2" fmla="*/ 0 h 923330"/>
              <a:gd name="connsiteX3" fmla="*/ 1611327 w 4538949"/>
              <a:gd name="connsiteY3" fmla="*/ 0 h 923330"/>
              <a:gd name="connsiteX4" fmla="*/ 2133306 w 4538949"/>
              <a:gd name="connsiteY4" fmla="*/ 0 h 923330"/>
              <a:gd name="connsiteX5" fmla="*/ 2655285 w 4538949"/>
              <a:gd name="connsiteY5" fmla="*/ 0 h 923330"/>
              <a:gd name="connsiteX6" fmla="*/ 3313433 w 4538949"/>
              <a:gd name="connsiteY6" fmla="*/ 0 h 923330"/>
              <a:gd name="connsiteX7" fmla="*/ 3790022 w 4538949"/>
              <a:gd name="connsiteY7" fmla="*/ 0 h 923330"/>
              <a:gd name="connsiteX8" fmla="*/ 4538949 w 4538949"/>
              <a:gd name="connsiteY8" fmla="*/ 0 h 923330"/>
              <a:gd name="connsiteX9" fmla="*/ 4538949 w 4538949"/>
              <a:gd name="connsiteY9" fmla="*/ 480132 h 923330"/>
              <a:gd name="connsiteX10" fmla="*/ 4538949 w 4538949"/>
              <a:gd name="connsiteY10" fmla="*/ 923330 h 923330"/>
              <a:gd name="connsiteX11" fmla="*/ 3971580 w 4538949"/>
              <a:gd name="connsiteY11" fmla="*/ 923330 h 923330"/>
              <a:gd name="connsiteX12" fmla="*/ 3449601 w 4538949"/>
              <a:gd name="connsiteY12" fmla="*/ 923330 h 923330"/>
              <a:gd name="connsiteX13" fmla="*/ 2791454 w 4538949"/>
              <a:gd name="connsiteY13" fmla="*/ 923330 h 923330"/>
              <a:gd name="connsiteX14" fmla="*/ 2133306 w 4538949"/>
              <a:gd name="connsiteY14" fmla="*/ 923330 h 923330"/>
              <a:gd name="connsiteX15" fmla="*/ 1656716 w 4538949"/>
              <a:gd name="connsiteY15" fmla="*/ 923330 h 923330"/>
              <a:gd name="connsiteX16" fmla="*/ 1089348 w 4538949"/>
              <a:gd name="connsiteY16" fmla="*/ 923330 h 923330"/>
              <a:gd name="connsiteX17" fmla="*/ 0 w 4538949"/>
              <a:gd name="connsiteY17" fmla="*/ 923330 h 923330"/>
              <a:gd name="connsiteX18" fmla="*/ 0 w 4538949"/>
              <a:gd name="connsiteY18" fmla="*/ 461665 h 923330"/>
              <a:gd name="connsiteX19" fmla="*/ 0 w 4538949"/>
              <a:gd name="connsiteY19" fmla="*/ 0 h 9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38949" h="923330" extrusionOk="0">
                <a:moveTo>
                  <a:pt x="0" y="0"/>
                </a:moveTo>
                <a:cubicBezTo>
                  <a:pt x="106471" y="-1716"/>
                  <a:pt x="357372" y="20159"/>
                  <a:pt x="521979" y="0"/>
                </a:cubicBezTo>
                <a:cubicBezTo>
                  <a:pt x="686586" y="-20159"/>
                  <a:pt x="821899" y="18521"/>
                  <a:pt x="953179" y="0"/>
                </a:cubicBezTo>
                <a:cubicBezTo>
                  <a:pt x="1084459" y="-18521"/>
                  <a:pt x="1400912" y="22430"/>
                  <a:pt x="1611327" y="0"/>
                </a:cubicBezTo>
                <a:cubicBezTo>
                  <a:pt x="1821742" y="-22430"/>
                  <a:pt x="1895108" y="41441"/>
                  <a:pt x="2133306" y="0"/>
                </a:cubicBezTo>
                <a:cubicBezTo>
                  <a:pt x="2371504" y="-41441"/>
                  <a:pt x="2461182" y="25214"/>
                  <a:pt x="2655285" y="0"/>
                </a:cubicBezTo>
                <a:cubicBezTo>
                  <a:pt x="2849388" y="-25214"/>
                  <a:pt x="3059980" y="7583"/>
                  <a:pt x="3313433" y="0"/>
                </a:cubicBezTo>
                <a:cubicBezTo>
                  <a:pt x="3566886" y="-7583"/>
                  <a:pt x="3596953" y="13874"/>
                  <a:pt x="3790022" y="0"/>
                </a:cubicBezTo>
                <a:cubicBezTo>
                  <a:pt x="3983091" y="-13874"/>
                  <a:pt x="4213208" y="71538"/>
                  <a:pt x="4538949" y="0"/>
                </a:cubicBezTo>
                <a:cubicBezTo>
                  <a:pt x="4551090" y="118772"/>
                  <a:pt x="4505384" y="274989"/>
                  <a:pt x="4538949" y="480132"/>
                </a:cubicBezTo>
                <a:cubicBezTo>
                  <a:pt x="4572514" y="685275"/>
                  <a:pt x="4521284" y="820805"/>
                  <a:pt x="4538949" y="923330"/>
                </a:cubicBezTo>
                <a:cubicBezTo>
                  <a:pt x="4267830" y="975064"/>
                  <a:pt x="4145249" y="901936"/>
                  <a:pt x="3971580" y="923330"/>
                </a:cubicBezTo>
                <a:cubicBezTo>
                  <a:pt x="3797911" y="944724"/>
                  <a:pt x="3703717" y="867554"/>
                  <a:pt x="3449601" y="923330"/>
                </a:cubicBezTo>
                <a:cubicBezTo>
                  <a:pt x="3195485" y="979106"/>
                  <a:pt x="2954241" y="863618"/>
                  <a:pt x="2791454" y="923330"/>
                </a:cubicBezTo>
                <a:cubicBezTo>
                  <a:pt x="2628667" y="983042"/>
                  <a:pt x="2381692" y="914945"/>
                  <a:pt x="2133306" y="923330"/>
                </a:cubicBezTo>
                <a:cubicBezTo>
                  <a:pt x="1884920" y="931715"/>
                  <a:pt x="1886622" y="920642"/>
                  <a:pt x="1656716" y="923330"/>
                </a:cubicBezTo>
                <a:cubicBezTo>
                  <a:pt x="1426810" y="926018"/>
                  <a:pt x="1364416" y="895236"/>
                  <a:pt x="1089348" y="923330"/>
                </a:cubicBezTo>
                <a:cubicBezTo>
                  <a:pt x="814280" y="951424"/>
                  <a:pt x="257550" y="855532"/>
                  <a:pt x="0" y="923330"/>
                </a:cubicBezTo>
                <a:cubicBezTo>
                  <a:pt x="-48289" y="731769"/>
                  <a:pt x="21382" y="589170"/>
                  <a:pt x="0" y="461665"/>
                </a:cubicBezTo>
                <a:cubicBezTo>
                  <a:pt x="-21382" y="334160"/>
                  <a:pt x="30168" y="122032"/>
                  <a:pt x="0" y="0"/>
                </a:cubicBezTo>
                <a:close/>
              </a:path>
            </a:pathLst>
          </a:custGeom>
          <a:noFill/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This is what you would do on a </a:t>
            </a:r>
            <a:r>
              <a:rPr lang="en-US" b="1" dirty="0">
                <a:solidFill>
                  <a:srgbClr val="C00000"/>
                </a:solidFill>
              </a:rPr>
              <a:t>university </a:t>
            </a:r>
            <a:r>
              <a:rPr lang="en-US" dirty="0">
                <a:solidFill>
                  <a:srgbClr val="C00000"/>
                </a:solidFill>
              </a:rPr>
              <a:t>computer. See Course Resources for brief guide to installing on your own machine</a:t>
            </a:r>
          </a:p>
        </p:txBody>
      </p:sp>
    </p:spTree>
    <p:extLst>
      <p:ext uri="{BB962C8B-B14F-4D97-AF65-F5344CB8AC3E}">
        <p14:creationId xmlns:p14="http://schemas.microsoft.com/office/powerpoint/2010/main" val="8397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Variables in 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Enter the following (i.e. type one line at time and see what happens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 &lt;- c(2,3) # Look at this using x, or print(x)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1+1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(1 + 1) * 7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 &lt;- 5.4 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3"/>
                </a:solidFill>
                <a:latin typeface="Lucida Sans Typewriter" panose="020B0509030504030204" pitchFamily="49" charset="77"/>
              </a:rPr>
              <a:t>sqrt</a:t>
            </a: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(x)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x^2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 &lt;- c(4.5, 7.8, 3.2, 1)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y &lt;- 2:5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z &lt;- x </a:t>
            </a:r>
            <a:r>
              <a:rPr lang="mr-IN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–</a:t>
            </a: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 y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z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3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More basic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437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 &lt;- c(4, 7, 8)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x[2] &lt;- 6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x[1:2]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x[-3]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x[c(2,3)]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x[length(x)]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x[c(1,3)] &lt;- c(11, 17)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# Write a function; open an R script and use: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3"/>
                </a:solidFill>
                <a:latin typeface="Lucida Sans Typewriter" panose="020B0509030504030204" pitchFamily="49" charset="77"/>
              </a:rPr>
              <a:t>my_mean</a:t>
            </a: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 &lt;- function(x) { sum(x)/length(x) }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# If file saved as </a:t>
            </a:r>
            <a:r>
              <a:rPr lang="en-US" dirty="0" err="1">
                <a:latin typeface="Lucida Sans Typewriter" panose="020B0509030504030204" pitchFamily="49" charset="77"/>
              </a:rPr>
              <a:t>my_mean.r</a:t>
            </a:r>
            <a:r>
              <a:rPr lang="en-US" dirty="0">
                <a:latin typeface="Lucida Sans Typewriter" panose="020B0509030504030204" pitchFamily="49" charset="77"/>
              </a:rPr>
              <a:t> then read it: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source("</a:t>
            </a:r>
            <a:r>
              <a:rPr lang="en-US" dirty="0" err="1">
                <a:solidFill>
                  <a:schemeClr val="accent3"/>
                </a:solidFill>
                <a:latin typeface="Lucida Sans Typewriter" panose="020B0509030504030204" pitchFamily="49" charset="77"/>
              </a:rPr>
              <a:t>my_mean.r</a:t>
            </a: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") # From the current working directory.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#</a:t>
            </a: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 </a:t>
            </a:r>
            <a:r>
              <a:rPr lang="en-US" dirty="0">
                <a:latin typeface="Lucida Sans Typewriter" panose="020B0509030504030204" pitchFamily="49" charset="77"/>
              </a:rPr>
              <a:t>Then use it: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3"/>
                </a:solidFill>
                <a:latin typeface="Lucida Sans Typewriter" panose="020B0509030504030204" pitchFamily="49" charset="77"/>
              </a:rPr>
              <a:t>my_mean</a:t>
            </a: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(c(4, 7, 3, 3, 4)) </a:t>
            </a:r>
          </a:p>
          <a:p>
            <a:endParaRPr lang="en-US" dirty="0">
              <a:latin typeface="Lucida Sans Typewriter" panose="020B0509030504030204" pitchFamily="49" charset="77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95DAD-7347-9E09-BA50-755A5394A88E}"/>
              </a:ext>
            </a:extLst>
          </p:cNvPr>
          <p:cNvSpPr txBox="1"/>
          <p:nvPr/>
        </p:nvSpPr>
        <p:spPr>
          <a:xfrm>
            <a:off x="9529011" y="3644106"/>
            <a:ext cx="19852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first saving you can use</a:t>
            </a:r>
          </a:p>
          <a:p>
            <a:r>
              <a:rPr lang="en-US" dirty="0"/>
              <a:t>‘Source on save’ and this line is done for you </a:t>
            </a:r>
          </a:p>
        </p:txBody>
      </p:sp>
    </p:spTree>
    <p:extLst>
      <p:ext uri="{BB962C8B-B14F-4D97-AF65-F5344CB8AC3E}">
        <p14:creationId xmlns:p14="http://schemas.microsoft.com/office/powerpoint/2010/main" val="828470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Standard deviation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&gt;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 &lt;- c(2,3,6,7)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&gt;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latin typeface="Lucida Sans Typewriter" panose="020B0509030504030204" pitchFamily="49" charset="77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[1] 2 3 6 7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&gt;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mean(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) # Actually: (2+3+6+7)/4</a:t>
            </a:r>
            <a:r>
              <a:rPr lang="en-US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[1] 4.5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&gt;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 - mean(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 [1] -2.5 -1.5 1.5 2.5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&gt;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 - mean(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) )^2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[1] 6.25 2.25 2.25 6.25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&gt;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sum((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 - mean(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) )^2)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[1] 17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 &gt;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sd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)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[1] 2.380476 &gt; # Show that variance = std. dev. squared, here is variance: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&gt;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sqrt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(sum((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 - mean(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))^2)/(length(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)-1))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&gt;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var(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mynums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) 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[1] 5.666667 </a:t>
            </a:r>
          </a:p>
          <a:p>
            <a:endParaRPr lang="en-US" dirty="0">
              <a:latin typeface="Lucida Sans Typewriter" panose="020B0509030504030204" pitchFamily="49" charset="77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Further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Carry out a similar analysis – mean, and standard deviation, </a:t>
            </a:r>
            <a:r>
              <a:rPr lang="en-US" i="1" dirty="0"/>
              <a:t>histogram</a:t>
            </a:r>
            <a:r>
              <a:rPr lang="en-US" dirty="0"/>
              <a:t> – on these 36 measurements: </a:t>
            </a:r>
            <a:r>
              <a:rPr lang="en-US" dirty="0">
                <a:solidFill>
                  <a:schemeClr val="accent3"/>
                </a:solidFill>
              </a:rPr>
              <a:t>121, 82, 100, 151, 68, 58, 95, 145, 64, 201, 101, 163, 84, 57, 139, 60, 78, 94, 119, 104, 110, 113, 118, 203, 62, 83, 67, 93, 92, 110, 25, 123, 70, 48, 95, 42 </a:t>
            </a:r>
          </a:p>
          <a:p>
            <a:r>
              <a:rPr lang="en-US" dirty="0"/>
              <a:t> histogram, use:</a:t>
            </a:r>
            <a:br>
              <a:rPr lang="en-US" dirty="0"/>
            </a:br>
            <a:r>
              <a:rPr lang="mr-IN" dirty="0"/>
              <a:t> </a:t>
            </a:r>
            <a:r>
              <a:rPr lang="mr-IN" dirty="0" err="1">
                <a:solidFill>
                  <a:schemeClr val="accent3"/>
                </a:solidFill>
                <a:latin typeface="Lucida Sans Typewriter" panose="020B0509030504030204" pitchFamily="49" charset="77"/>
              </a:rPr>
              <a:t>xh</a:t>
            </a:r>
            <a:r>
              <a:rPr lang="mr-IN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 &lt;- </a:t>
            </a:r>
            <a:r>
              <a:rPr lang="mr-IN" dirty="0" err="1">
                <a:solidFill>
                  <a:schemeClr val="accent3"/>
                </a:solidFill>
                <a:latin typeface="Lucida Sans Typewriter" panose="020B0509030504030204" pitchFamily="49" charset="77"/>
              </a:rPr>
              <a:t>hist</a:t>
            </a:r>
            <a:r>
              <a:rPr lang="mr-IN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(</a:t>
            </a:r>
            <a:r>
              <a:rPr lang="mr-IN" dirty="0" err="1">
                <a:solidFill>
                  <a:schemeClr val="accent3"/>
                </a:solidFill>
                <a:latin typeface="Lucida Sans Typewriter" panose="020B0509030504030204" pitchFamily="49" charset="77"/>
              </a:rPr>
              <a:t>x</a:t>
            </a:r>
            <a:r>
              <a:rPr lang="mr-IN" dirty="0">
                <a:solidFill>
                  <a:schemeClr val="accent3"/>
                </a:solidFill>
                <a:latin typeface="Lucida Sans Typewriter" panose="020B0509030504030204" pitchFamily="49" charset="77"/>
              </a:rPr>
              <a:t>) </a:t>
            </a:r>
          </a:p>
          <a:p>
            <a:r>
              <a:rPr lang="en-US" dirty="0"/>
              <a:t>Use: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  <a:latin typeface="Mangal" panose="02040503050203030202" pitchFamily="18" charset="0"/>
                <a:cs typeface="Mangal" panose="02040503050203030202" pitchFamily="18" charset="0"/>
              </a:rPr>
              <a:t>help(“hist”) </a:t>
            </a:r>
            <a:r>
              <a:rPr lang="en-US" dirty="0"/>
              <a:t>to access the documentation and customize the appearance of your histogram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23-27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9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MA506_201718" id="{DC3A4A73-5F78-6747-A7FC-8292C6B2F36B}" vid="{D92CA532-C8AD-0B4E-B2BE-74B7BD0AB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E9AC2D8CFB8B41AABCC159999A4638" ma:contentTypeVersion="0" ma:contentTypeDescription="Create a new document." ma:contentTypeScope="" ma:versionID="504053f08e9d0c1631c9fff3aef0a2e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585BAB-1661-4A7E-8146-1D2384D2447B}"/>
</file>

<file path=customXml/itemProps2.xml><?xml version="1.0" encoding="utf-8"?>
<ds:datastoreItem xmlns:ds="http://schemas.openxmlformats.org/officeDocument/2006/customXml" ds:itemID="{7182993A-CC88-4D94-A1CB-FB3BEE88CB0E}"/>
</file>

<file path=customXml/itemProps3.xml><?xml version="1.0" encoding="utf-8"?>
<ds:datastoreItem xmlns:ds="http://schemas.openxmlformats.org/officeDocument/2006/customXml" ds:itemID="{2E452747-DC44-4D57-BC7E-45494533460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1088</TotalTime>
  <Words>732</Words>
  <Application>Microsoft Office PowerPoint</Application>
  <PresentationFormat>Widescreen</PresentationFormat>
  <Paragraphs>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Lucida Sans Typewriter</vt:lpstr>
      <vt:lpstr>Mangal</vt:lpstr>
      <vt:lpstr>Office Theme</vt:lpstr>
      <vt:lpstr>Introduction to Statistical Techniques  - Tutorial</vt:lpstr>
      <vt:lpstr>Start up ‘R’</vt:lpstr>
      <vt:lpstr>Variables in R </vt:lpstr>
      <vt:lpstr>More basic R</vt:lpstr>
      <vt:lpstr>Standard deviation calculation</vt:lpstr>
      <vt:lpstr>Further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Title</dc:title>
  <dc:creator>Lee Barnby</dc:creator>
  <cp:lastModifiedBy>Alexander Rompas</cp:lastModifiedBy>
  <cp:revision>26</cp:revision>
  <dcterms:created xsi:type="dcterms:W3CDTF">2017-09-18T06:59:11Z</dcterms:created>
  <dcterms:modified xsi:type="dcterms:W3CDTF">2025-10-16T17:53:16Z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