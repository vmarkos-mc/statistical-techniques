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2" r:id="rId3"/>
    <p:sldId id="274" r:id="rId4"/>
    <p:sldId id="266" r:id="rId5"/>
    <p:sldId id="267" r:id="rId6"/>
    <p:sldId id="276" r:id="rId7"/>
    <p:sldId id="268" r:id="rId8"/>
    <p:sldId id="279" r:id="rId9"/>
    <p:sldId id="269" r:id="rId10"/>
    <p:sldId id="280" r:id="rId11"/>
    <p:sldId id="270" r:id="rId12"/>
    <p:sldId id="271" r:id="rId13"/>
    <p:sldId id="272" r:id="rId14"/>
    <p:sldId id="273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8CB"/>
    <a:srgbClr val="0079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B993A-2185-924A-87E1-1DD8C16A89B6}" v="14" dt="2024-09-22T14:57:49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201"/>
    <p:restoredTop sz="95839"/>
  </p:normalViewPr>
  <p:slideViewPr>
    <p:cSldViewPr snapToGrid="0" snapToObjects="1">
      <p:cViewPr varScale="1">
        <p:scale>
          <a:sx n="59" d="100"/>
          <a:sy n="59" d="100"/>
        </p:scale>
        <p:origin x="2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FD0A-8C85-2341-8049-1E6522B17084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E91AB-7CEE-4F42-885A-AA6627AD1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6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93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82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01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45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73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28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197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46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28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19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3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1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0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p.Staynova@derby.ac.u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erbyuni.padlet.org/l_barnby/2024-big-data-analytics-data-classification-efizbpn8sbqdvjjh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Introduction to Statistical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Dr Petra Staynova</a:t>
            </a:r>
          </a:p>
          <a:p>
            <a:r>
              <a:rPr lang="en-US" dirty="0"/>
              <a:t>School of Computing</a:t>
            </a:r>
            <a:endParaRPr lang="en-US" strike="sngStrike" dirty="0"/>
          </a:p>
        </p:txBody>
      </p:sp>
      <p:sp>
        <p:nvSpPr>
          <p:cNvPr id="4" name="Rectangle 3"/>
          <p:cNvSpPr/>
          <p:nvPr/>
        </p:nvSpPr>
        <p:spPr>
          <a:xfrm>
            <a:off x="7336795" y="5349875"/>
            <a:ext cx="406072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7MA505</a:t>
            </a:r>
            <a:r>
              <a:rPr lang="en-US" sz="2400" dirty="0"/>
              <a:t> Statistical Techniques </a:t>
            </a:r>
          </a:p>
          <a:p>
            <a:r>
              <a:rPr lang="en-US" sz="2400" dirty="0"/>
              <a:t>Week 1, Autumn Semester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894" y="4979993"/>
            <a:ext cx="3515506" cy="1570759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23 September 2025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p.staynova@derby.ac.uk - 7MA505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5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Lecturer </a:t>
            </a:r>
            <a:r>
              <a:rPr lang="mr-IN" dirty="0"/>
              <a:t>–</a:t>
            </a:r>
            <a:r>
              <a:rPr lang="en-US" dirty="0"/>
              <a:t> Dr Petra Staynova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Available via email </a:t>
            </a:r>
            <a:r>
              <a:rPr lang="en-US" dirty="0">
                <a:hlinkClick r:id="rId3"/>
              </a:rPr>
              <a:t>p.Staynova@derby.ac.uk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It is best if you use your </a:t>
            </a:r>
            <a:r>
              <a:rPr lang="en-US" b="1" dirty="0" err="1"/>
              <a:t>unimail</a:t>
            </a:r>
            <a:r>
              <a:rPr lang="en-US" dirty="0"/>
              <a:t> address</a:t>
            </a:r>
          </a:p>
          <a:p>
            <a:r>
              <a:rPr lang="en-US" dirty="0"/>
              <a:t>Or send a message in the Teams chat</a:t>
            </a:r>
          </a:p>
          <a:p>
            <a:pPr lvl="1"/>
            <a:r>
              <a:rPr lang="en-US" dirty="0"/>
              <a:t>We can make appointment if a longer discussion is needed</a:t>
            </a:r>
          </a:p>
          <a:p>
            <a:r>
              <a:rPr lang="en-US" dirty="0"/>
              <a:t>My office MS104 – planning to be on site on days with scheduled teaching, Monday, Tuesday, Friday (WFH – Wed, Thu)</a:t>
            </a:r>
          </a:p>
          <a:p>
            <a:pPr lvl="1"/>
            <a:r>
              <a:rPr lang="en-US" dirty="0"/>
              <a:t>Office hour: Tuesday 3:30-4:30 pm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74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971D-8498-2247-9799-78EEC1CB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Preliminaries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900E1-70BC-1F4C-B5B1-E0A75B613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8700"/>
            <a:ext cx="10515600" cy="51482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Attendance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Card reader Tap-In records attendance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If you miss a session then you can use the attendance system to record the reason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Sessions normally start on the hour, and finish at 50 past. </a:t>
            </a:r>
          </a:p>
          <a:p>
            <a:r>
              <a:rPr lang="en-US" dirty="0"/>
              <a:t>Lecture recording</a:t>
            </a:r>
          </a:p>
          <a:p>
            <a:pPr lvl="1"/>
            <a:r>
              <a:rPr lang="en-US" dirty="0"/>
              <a:t>Lectures are be recorded and will be available through the Panopto link. Therefore, your questions may be recorded. </a:t>
            </a:r>
          </a:p>
          <a:p>
            <a:pPr lvl="2"/>
            <a:r>
              <a:rPr lang="en-US" dirty="0"/>
              <a:t>NB In principle in Panopto we could edit out if something we didn’t like arose in the discussion</a:t>
            </a:r>
          </a:p>
          <a:p>
            <a:r>
              <a:rPr lang="en-US" dirty="0"/>
              <a:t>These lectures are with thanks to Lee Barnby. 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AD298-E470-2A49-B682-8C88B23F7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D972E-2E3C-5B4C-82EA-8121C99C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6834B-C45B-084C-BA1C-1E3E5A61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85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Tuesday Lecture 12 pm – 1 pm </a:t>
            </a:r>
          </a:p>
          <a:p>
            <a:pPr lvl="1"/>
            <a:r>
              <a:rPr lang="en-US" dirty="0"/>
              <a:t>In the lecture we introduce new material as well as look at common issues which may have arisen in the tutorials</a:t>
            </a:r>
          </a:p>
          <a:p>
            <a:r>
              <a:rPr lang="en-US" dirty="0"/>
              <a:t>Tutorials. Please attend the </a:t>
            </a:r>
            <a:r>
              <a:rPr lang="en-US" b="1" dirty="0"/>
              <a:t>one</a:t>
            </a:r>
            <a:r>
              <a:rPr lang="en-US" dirty="0"/>
              <a:t> session that appears in your personal timetable from:</a:t>
            </a:r>
          </a:p>
          <a:p>
            <a:pPr lvl="1"/>
            <a:r>
              <a:rPr lang="en-US" dirty="0"/>
              <a:t>Tuesday 1-3 or 5-7 pm in MS214/5 (rooms are joined)</a:t>
            </a:r>
          </a:p>
          <a:p>
            <a:pPr lvl="1"/>
            <a:r>
              <a:rPr lang="en-US" dirty="0"/>
              <a:t>Depending on student numbers, we might merge groups</a:t>
            </a:r>
          </a:p>
          <a:p>
            <a:r>
              <a:rPr lang="en-US" dirty="0"/>
              <a:t>Following session: some feedback (two-way) on the practical work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669737" y="5343327"/>
            <a:ext cx="4483087" cy="92333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module comprises 200 hours of study</a:t>
            </a:r>
          </a:p>
          <a:p>
            <a:r>
              <a:rPr lang="en-US" dirty="0">
                <a:solidFill>
                  <a:schemeClr val="bg1"/>
                </a:solidFill>
              </a:rPr>
              <a:t>Lectures and tutorials cover about 18% of this</a:t>
            </a:r>
          </a:p>
          <a:p>
            <a:r>
              <a:rPr lang="en-US" b="1" dirty="0">
                <a:solidFill>
                  <a:schemeClr val="bg1"/>
                </a:solidFill>
              </a:rPr>
              <a:t>You</a:t>
            </a:r>
            <a:r>
              <a:rPr lang="en-US" dirty="0">
                <a:solidFill>
                  <a:schemeClr val="bg1"/>
                </a:solidFill>
              </a:rPr>
              <a:t> need to also work </a:t>
            </a:r>
            <a:r>
              <a:rPr lang="en-US" b="1" dirty="0">
                <a:solidFill>
                  <a:schemeClr val="bg1"/>
                </a:solidFill>
              </a:rPr>
              <a:t>independently</a:t>
            </a:r>
          </a:p>
        </p:txBody>
      </p:sp>
    </p:spTree>
    <p:extLst>
      <p:ext uri="{BB962C8B-B14F-4D97-AF65-F5344CB8AC3E}">
        <p14:creationId xmlns:p14="http://schemas.microsoft.com/office/powerpoint/2010/main" val="4943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data analysis, </a:t>
            </a:r>
            <a:r>
              <a:rPr lang="en-US" b="1" i="1" dirty="0"/>
              <a:t>R</a:t>
            </a:r>
            <a:r>
              <a:rPr lang="en-US" dirty="0"/>
              <a:t> language</a:t>
            </a:r>
          </a:p>
          <a:p>
            <a:r>
              <a:rPr lang="en-US" dirty="0"/>
              <a:t>Statistical Inference: Point and Interval Estimation; </a:t>
            </a:r>
          </a:p>
          <a:p>
            <a:r>
              <a:rPr lang="en-US" dirty="0"/>
              <a:t>Hypothesis Testing; Non-Parametric Tests;</a:t>
            </a:r>
          </a:p>
          <a:p>
            <a:r>
              <a:rPr lang="en-US" dirty="0"/>
              <a:t>Chi-squared Test of Independence;</a:t>
            </a:r>
          </a:p>
          <a:p>
            <a:r>
              <a:rPr lang="en-US" dirty="0"/>
              <a:t>One-Way Analysis of Variance (ANOVA); </a:t>
            </a:r>
          </a:p>
          <a:p>
            <a:r>
              <a:rPr lang="en-US" dirty="0"/>
              <a:t>Correlation and Linear Regression </a:t>
            </a:r>
          </a:p>
          <a:p>
            <a:r>
              <a:rPr lang="en-US" dirty="0"/>
              <a:t>Logistic regression, Imputation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23 September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p.staynova@derby.ac.uk - 7MA505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15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743412B-C0F9-A343-91CB-4DCABD801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concepts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5CC41-2446-E047-A56F-929D64A8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32D94-A5C2-D545-A671-3A01E884A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43DFE-302B-A74A-AA14-5DDDDADC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42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Terms: populations and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Population</a:t>
            </a:r>
          </a:p>
          <a:p>
            <a:pPr lvl="1"/>
            <a:r>
              <a:rPr lang="en-US" dirty="0"/>
              <a:t>the complete set of individuals, objects or scores of interest. Often too large to sample in its entirety. It may be real or hypothetical</a:t>
            </a:r>
          </a:p>
          <a:p>
            <a:pPr lvl="2"/>
            <a:r>
              <a:rPr lang="en-US" dirty="0"/>
              <a:t>e.g. the results from an experiment repeated ad infinitum</a:t>
            </a:r>
          </a:p>
          <a:p>
            <a:r>
              <a:rPr lang="en-US" b="1" dirty="0"/>
              <a:t>Sample</a:t>
            </a:r>
          </a:p>
          <a:p>
            <a:pPr lvl="1"/>
            <a:r>
              <a:rPr lang="en-US" dirty="0"/>
              <a:t>A subset of the population. A sample may be classified as: </a:t>
            </a:r>
          </a:p>
          <a:p>
            <a:pPr lvl="2"/>
            <a:r>
              <a:rPr lang="en-US" i="1" dirty="0"/>
              <a:t>random</a:t>
            </a:r>
            <a:r>
              <a:rPr lang="en-US" dirty="0"/>
              <a:t> (each member has equal chance of being selected from a population) or</a:t>
            </a:r>
          </a:p>
          <a:p>
            <a:pPr lvl="2"/>
            <a:r>
              <a:rPr lang="en-US" i="1" dirty="0"/>
              <a:t>convenience</a:t>
            </a:r>
            <a:r>
              <a:rPr lang="en-US" dirty="0"/>
              <a:t> (what’s available).</a:t>
            </a:r>
          </a:p>
          <a:p>
            <a:pPr lvl="1"/>
            <a:r>
              <a:rPr lang="en-US" dirty="0"/>
              <a:t>Random selection attempts to ensure the sample is representative of the population.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9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960D-0C17-EE41-AF8B-CD59F21D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or sample? - polls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D0407-13ED-9F4E-B88A-73CC016CA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number of meals served by McDonalds branches each weekend in Derby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total home attendance for each of the 20 Premier League teams in the 2018-19 season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opening price of each of the 250 stocks in the FTSE-250 index on 1 March 2021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List of 35 houses for sale on 1 June 2021 in Derby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ages of 50 patients enrolled in a vaccine test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Yearly expenditure on food of 1000 people contacted by telephone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0B1AC-BC84-9F48-8669-F0486938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6C8E9-30AF-554B-AF9B-230C33F61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8E5C6-0AAA-864A-A1C9-446556B5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72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8773"/>
            <a:ext cx="10515600" cy="1325563"/>
          </a:xfrm>
        </p:spPr>
        <p:txBody>
          <a:bodyPr/>
          <a:lstStyle/>
          <a:p>
            <a:r>
              <a:rPr lang="en-US" dirty="0"/>
              <a:t>Terms: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are the quantities measured in a sample. They may be classified as follows: </a:t>
            </a:r>
          </a:p>
          <a:p>
            <a:pPr lvl="1"/>
            <a:r>
              <a:rPr lang="en-US" b="1" dirty="0"/>
              <a:t>Quantitative</a:t>
            </a:r>
            <a:r>
              <a:rPr lang="en-US" dirty="0"/>
              <a:t> i.e. numerical</a:t>
            </a:r>
          </a:p>
          <a:p>
            <a:pPr lvl="1"/>
            <a:r>
              <a:rPr lang="en-US" b="1" dirty="0"/>
              <a:t>Continuous</a:t>
            </a:r>
            <a:r>
              <a:rPr lang="en-US" dirty="0"/>
              <a:t> E.g. pH of a sample, patient cholesterol levels </a:t>
            </a:r>
          </a:p>
          <a:p>
            <a:pPr lvl="1"/>
            <a:r>
              <a:rPr lang="en-US" b="1" dirty="0"/>
              <a:t>Discrete</a:t>
            </a:r>
            <a:r>
              <a:rPr lang="en-US" dirty="0"/>
              <a:t> E.g. number of bacteria colonies in a culture </a:t>
            </a:r>
          </a:p>
          <a:p>
            <a:pPr lvl="1"/>
            <a:r>
              <a:rPr lang="en-US" b="1" dirty="0"/>
              <a:t>Categorical</a:t>
            </a:r>
            <a:r>
              <a:rPr lang="en-US" dirty="0"/>
              <a:t> </a:t>
            </a:r>
            <a:r>
              <a:rPr lang="en-US" i="1" dirty="0"/>
              <a:t>Nominal</a:t>
            </a:r>
            <a:r>
              <a:rPr lang="en-US" dirty="0"/>
              <a:t> or </a:t>
            </a:r>
            <a:r>
              <a:rPr lang="en-US" i="1" dirty="0"/>
              <a:t>ordinal</a:t>
            </a:r>
            <a:r>
              <a:rPr lang="en-US" dirty="0"/>
              <a:t>. May also be termed qualitative </a:t>
            </a:r>
          </a:p>
          <a:p>
            <a:pPr lvl="2"/>
            <a:r>
              <a:rPr lang="en-US" i="1" dirty="0"/>
              <a:t>Nominal</a:t>
            </a:r>
            <a:r>
              <a:rPr lang="en-US" dirty="0"/>
              <a:t> E.g. blood group</a:t>
            </a:r>
          </a:p>
          <a:p>
            <a:pPr lvl="2"/>
            <a:r>
              <a:rPr lang="en-US" i="1" dirty="0"/>
              <a:t>Ordinal</a:t>
            </a:r>
            <a:r>
              <a:rPr lang="en-US" dirty="0"/>
              <a:t> ranked e.g. illness by severity, mild, moderate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990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CF04-9A72-4A40-B017-392158CEC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1522"/>
            <a:ext cx="10515600" cy="1325563"/>
          </a:xfrm>
        </p:spPr>
        <p:txBody>
          <a:bodyPr/>
          <a:lstStyle/>
          <a:p>
            <a:r>
              <a:rPr lang="en-US" dirty="0"/>
              <a:t>Classification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90320-E8DC-8643-B62C-32D572712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942810"/>
            <a:ext cx="4660900" cy="2832929"/>
          </a:xfrm>
        </p:spPr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Ordinal variables can re-coded to be quantitative e.g. category, 1, 2, 3, 4 burns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FCEF4-E6F3-D148-B60F-ED042A92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8091B-6F52-1946-9865-A39A6D36B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91DDF-467C-294B-A237-FCA57F8E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10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C4ADDF-2778-7B4D-B673-0E0E01AFD841}"/>
              </a:ext>
            </a:extLst>
          </p:cNvPr>
          <p:cNvSpPr txBox="1">
            <a:spLocks/>
          </p:cNvSpPr>
          <p:nvPr/>
        </p:nvSpPr>
        <p:spPr>
          <a:xfrm>
            <a:off x="647700" y="1690688"/>
            <a:ext cx="4521200" cy="19542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Padlet link </a:t>
            </a:r>
            <a:r>
              <a:rPr lang="en-US" dirty="0">
                <a:hlinkClick r:id="rId2"/>
              </a:rPr>
              <a:t>https://derbyuni.padlet.org/l_barnby/2024-big-data-analytics-data-classification-efizbpn8sbqdvjjh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Font typeface="Arial"/>
              <a:buNone/>
            </a:pPr>
            <a:endParaRPr lang="en-US" dirty="0"/>
          </a:p>
        </p:txBody>
      </p:sp>
      <p:pic>
        <p:nvPicPr>
          <p:cNvPr id="10" name="Picture 9" descr="A qr code on a white background&#10;&#10;">
            <a:extLst>
              <a:ext uri="{FF2B5EF4-FFF2-40B4-BE49-F238E27FC236}">
                <a16:creationId xmlns:a16="http://schemas.microsoft.com/office/drawing/2014/main" id="{4AEA15E5-1E92-4DB7-AA11-5DA4A23D4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100" y="261522"/>
            <a:ext cx="6019800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66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Variables can be further classified as: </a:t>
            </a:r>
          </a:p>
          <a:p>
            <a:pPr lvl="1"/>
            <a:r>
              <a:rPr lang="en-US" b="1" dirty="0"/>
              <a:t>Dependent/Response</a:t>
            </a:r>
            <a:r>
              <a:rPr lang="en-US" dirty="0"/>
              <a:t>. Variable of primary interest (e.g. blood pressure in an anti-hypertensive drug trial) - Not controlled by the experimenter. </a:t>
            </a:r>
          </a:p>
          <a:p>
            <a:pPr lvl="1"/>
            <a:r>
              <a:rPr lang="en-US" b="1" dirty="0"/>
              <a:t>Independent/Predictor</a:t>
            </a:r>
            <a:r>
              <a:rPr lang="en-US" dirty="0"/>
              <a:t> called a Factor when controlled by experimenter. It is often nominal (e.g. treatment). </a:t>
            </a:r>
          </a:p>
          <a:p>
            <a:pPr lvl="1"/>
            <a:r>
              <a:rPr lang="en-US" dirty="0"/>
              <a:t>Covariate when not controlled. </a:t>
            </a:r>
          </a:p>
          <a:p>
            <a:pPr lvl="2"/>
            <a:r>
              <a:rPr lang="en-US" dirty="0"/>
              <a:t>If the value of a variable cannot be predicted </a:t>
            </a:r>
            <a:r>
              <a:rPr lang="en-US" i="1" dirty="0"/>
              <a:t>in advance, </a:t>
            </a:r>
            <a:r>
              <a:rPr lang="en-US" dirty="0"/>
              <a:t>then the variable is referred to as a </a:t>
            </a:r>
            <a:r>
              <a:rPr lang="en-US" i="1" dirty="0"/>
              <a:t>random variable </a:t>
            </a:r>
          </a:p>
          <a:p>
            <a:pPr lvl="1"/>
            <a:r>
              <a:rPr lang="en-US" dirty="0"/>
              <a:t> Univariate, bivariate, multivariate.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Statistics: interpretation of data where </a:t>
            </a:r>
            <a:r>
              <a:rPr lang="en-US" b="1" dirty="0">
                <a:solidFill>
                  <a:srgbClr val="C00000"/>
                </a:solidFill>
              </a:rPr>
              <a:t>random variation </a:t>
            </a:r>
            <a:r>
              <a:rPr lang="en-US" dirty="0"/>
              <a:t>is present</a:t>
            </a:r>
          </a:p>
          <a:p>
            <a:r>
              <a:rPr lang="en-US" dirty="0"/>
              <a:t>Two possible aims</a:t>
            </a:r>
          </a:p>
          <a:p>
            <a:pPr lvl="1"/>
            <a:r>
              <a:rPr lang="en-US" dirty="0"/>
              <a:t>Reaching a decision, e.g. which variety of crop gives higher yield </a:t>
            </a:r>
          </a:p>
          <a:p>
            <a:pPr lvl="1"/>
            <a:r>
              <a:rPr lang="en-US" dirty="0"/>
              <a:t>Summarize information in the data. Interpretation of data, reasoning, from the particular to the general: </a:t>
            </a:r>
            <a:r>
              <a:rPr lang="en-US" b="1" dirty="0">
                <a:solidFill>
                  <a:srgbClr val="C00000"/>
                </a:solidFill>
              </a:rPr>
              <a:t>statistical inference </a:t>
            </a:r>
          </a:p>
          <a:p>
            <a:r>
              <a:rPr lang="en-US" dirty="0"/>
              <a:t>Common approach: Assume the population follows a normal distribution (or binomial, or some other standard distribution). Parameters of the distribution are unknown. Hence, we must estimate these parameters. 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93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 Curve</a:t>
            </a:r>
          </a:p>
        </p:txBody>
      </p:sp>
      <p:pic>
        <p:nvPicPr>
          <p:cNvPr id="7" name="Content Placeholder 6" descr="The Normal distribution, or Bell Curve. This symmetric distribution represents the probability of finding a value away from the mean, expressed in units of standard deviation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2872110" y="1827611"/>
            <a:ext cx="6447780" cy="434736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2C7096-33E3-BF4C-9508-60814469449F}"/>
              </a:ext>
            </a:extLst>
          </p:cNvPr>
          <p:cNvSpPr txBox="1"/>
          <p:nvPr/>
        </p:nvSpPr>
        <p:spPr>
          <a:xfrm flipH="1">
            <a:off x="4524934" y="5392270"/>
            <a:ext cx="94130" cy="107170"/>
          </a:xfrm>
          <a:prstGeom prst="rect">
            <a:avLst/>
          </a:prstGeom>
          <a:solidFill>
            <a:schemeClr val="bg1"/>
          </a:solidFill>
        </p:spPr>
        <p:txBody>
          <a:bodyPr wrap="square" tIns="36000" rtlCol="0">
            <a:noAutofit/>
          </a:bodyPr>
          <a:lstStyle/>
          <a:p>
            <a:pPr algn="ctr"/>
            <a:r>
              <a:rPr lang="en-US" sz="800" b="1" dirty="0"/>
              <a:t>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448F3-B32E-264C-AC78-C8685615AF63}"/>
              </a:ext>
            </a:extLst>
          </p:cNvPr>
          <p:cNvSpPr txBox="1"/>
          <p:nvPr/>
        </p:nvSpPr>
        <p:spPr>
          <a:xfrm>
            <a:off x="3932782" y="4466669"/>
            <a:ext cx="532518" cy="323165"/>
          </a:xfrm>
          <a:prstGeom prst="rect">
            <a:avLst/>
          </a:prstGeom>
          <a:solidFill>
            <a:srgbClr val="F5F8CB"/>
          </a:solidFill>
        </p:spPr>
        <p:txBody>
          <a:bodyPr wrap="none" bIns="0" rtlCol="0">
            <a:spAutoFit/>
          </a:bodyPr>
          <a:lstStyle/>
          <a:p>
            <a:r>
              <a:rPr lang="en-US" dirty="0"/>
              <a:t>less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E249B-B0B8-0143-A9A5-D8561D1296E2}"/>
              </a:ext>
            </a:extLst>
          </p:cNvPr>
          <p:cNvSpPr txBox="1"/>
          <p:nvPr/>
        </p:nvSpPr>
        <p:spPr>
          <a:xfrm>
            <a:off x="8507154" y="4446790"/>
            <a:ext cx="683392" cy="323165"/>
          </a:xfrm>
          <a:prstGeom prst="rect">
            <a:avLst/>
          </a:prstGeom>
          <a:solidFill>
            <a:srgbClr val="F5F8CB"/>
          </a:solidFill>
        </p:spPr>
        <p:txBody>
          <a:bodyPr wrap="none" bIns="0" rtlCol="0">
            <a:spAutoFit/>
          </a:bodyPr>
          <a:lstStyle/>
          <a:p>
            <a:r>
              <a:rPr lang="en-US" dirty="0"/>
              <a:t>more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58F7D5-65D4-5946-8E71-011B844B8953}"/>
              </a:ext>
            </a:extLst>
          </p:cNvPr>
          <p:cNvSpPr txBox="1"/>
          <p:nvPr/>
        </p:nvSpPr>
        <p:spPr>
          <a:xfrm>
            <a:off x="4741165" y="3026323"/>
            <a:ext cx="532518" cy="323165"/>
          </a:xfrm>
          <a:prstGeom prst="rect">
            <a:avLst/>
          </a:prstGeom>
          <a:solidFill>
            <a:srgbClr val="F5F8CB"/>
          </a:solidFill>
        </p:spPr>
        <p:txBody>
          <a:bodyPr wrap="none" bIns="0" rtlCol="0">
            <a:spAutoFit/>
          </a:bodyPr>
          <a:lstStyle/>
          <a:p>
            <a:r>
              <a:rPr lang="en-US" dirty="0"/>
              <a:t>less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C565DF-0C33-4E44-AA32-95117CB73407}"/>
              </a:ext>
            </a:extLst>
          </p:cNvPr>
          <p:cNvSpPr txBox="1"/>
          <p:nvPr/>
        </p:nvSpPr>
        <p:spPr>
          <a:xfrm>
            <a:off x="7664738" y="3026323"/>
            <a:ext cx="683392" cy="323165"/>
          </a:xfrm>
          <a:prstGeom prst="rect">
            <a:avLst/>
          </a:prstGeom>
          <a:solidFill>
            <a:srgbClr val="F5F8CB"/>
          </a:solidFill>
        </p:spPr>
        <p:txBody>
          <a:bodyPr wrap="none" bIns="0" rtlCol="0">
            <a:spAutoFit/>
          </a:bodyPr>
          <a:lstStyle/>
          <a:p>
            <a:r>
              <a:rPr lang="en-US" dirty="0"/>
              <a:t>more</a:t>
            </a:r>
          </a:p>
        </p:txBody>
      </p:sp>
    </p:spTree>
    <p:extLst>
      <p:ext uri="{BB962C8B-B14F-4D97-AF65-F5344CB8AC3E}">
        <p14:creationId xmlns:p14="http://schemas.microsoft.com/office/powerpoint/2010/main" val="1204442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numbers are very important for several reasons</a:t>
            </a:r>
          </a:p>
          <a:p>
            <a:pPr lvl="1"/>
            <a:r>
              <a:rPr lang="en-US" dirty="0"/>
              <a:t>often, we need test data, for algorithms that are being developed. Examples of such algorithms: modelling of data; simulation studies.</a:t>
            </a:r>
          </a:p>
          <a:p>
            <a:pPr lvl="1"/>
            <a:r>
              <a:rPr lang="en-US" dirty="0"/>
              <a:t>Another major application: key generation in cryptography.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Sometimes algorithms require sampled </a:t>
            </a:r>
            <a:r>
              <a:rPr lang="en-US" i="1" dirty="0"/>
              <a:t>selection</a:t>
            </a:r>
            <a:r>
              <a:rPr lang="en-US" dirty="0"/>
              <a:t> of data, or of processing steps. Examples: </a:t>
            </a:r>
          </a:p>
          <a:p>
            <a:pPr lvl="2"/>
            <a:r>
              <a:rPr lang="en-US" dirty="0"/>
              <a:t>the clustering algorithm known as k-means – this refers to the </a:t>
            </a:r>
            <a:r>
              <a:rPr lang="en-US" dirty="0" err="1"/>
              <a:t>centres</a:t>
            </a:r>
            <a:r>
              <a:rPr lang="en-US" dirty="0"/>
              <a:t> of the k clusters that it is sought to determine. This clustering approach requires k </a:t>
            </a:r>
            <a:r>
              <a:rPr lang="en-US" dirty="0" err="1"/>
              <a:t>centres</a:t>
            </a:r>
            <a:r>
              <a:rPr lang="en-US" dirty="0"/>
              <a:t> for the clusters to be defined in a random way, to start the algorithm. Or optimization methods using stochastic – i.e. probabilistic – algorithms.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82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7E69-13D3-2342-9086-CE43E01AA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take home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6D016-7A2E-3541-B5D4-1D1493783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worth spending time thinking about</a:t>
            </a:r>
          </a:p>
          <a:p>
            <a:pPr lvl="1"/>
            <a:r>
              <a:rPr lang="en-US" dirty="0"/>
              <a:t>the nature of the data</a:t>
            </a:r>
          </a:p>
          <a:p>
            <a:pPr lvl="1"/>
            <a:r>
              <a:rPr lang="en-US" dirty="0"/>
              <a:t>the problem you are trying to solve</a:t>
            </a:r>
          </a:p>
          <a:p>
            <a:pPr lvl="1"/>
            <a:r>
              <a:rPr lang="en-US" dirty="0"/>
              <a:t>the statement you would like to make</a:t>
            </a:r>
          </a:p>
          <a:p>
            <a:r>
              <a:rPr lang="en-US" dirty="0"/>
              <a:t>And only </a:t>
            </a:r>
            <a:r>
              <a:rPr lang="en-US" i="1" dirty="0"/>
              <a:t>then</a:t>
            </a:r>
            <a:r>
              <a:rPr lang="en-US" dirty="0"/>
              <a:t> starting to input data and do calculations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75620-B60B-4947-885C-EB46BEA99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23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390DB-1C32-ED4C-9613-0E4452FF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D1086-7978-1A48-AEDE-999F0BCB2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47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rby_Lectures" id="{8A536062-D3E8-E745-AE20-A4B10E1A39A1}" vid="{3C756A64-2AB1-FF4A-B9DC-4E6C3872053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E9AC2D8CFB8B41AABCC159999A4638" ma:contentTypeVersion="0" ma:contentTypeDescription="Create a new document." ma:contentTypeScope="" ma:versionID="504053f08e9d0c1631c9fff3aef0a2e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E9A6E7A-27CF-4891-8B6C-F9A78047D516}"/>
</file>

<file path=customXml/itemProps2.xml><?xml version="1.0" encoding="utf-8"?>
<ds:datastoreItem xmlns:ds="http://schemas.openxmlformats.org/officeDocument/2006/customXml" ds:itemID="{FA732826-C66F-40D0-8D75-05FFFA48948C}"/>
</file>

<file path=customXml/itemProps3.xml><?xml version="1.0" encoding="utf-8"?>
<ds:datastoreItem xmlns:ds="http://schemas.openxmlformats.org/officeDocument/2006/customXml" ds:itemID="{A1947BEA-1D2F-44A7-9515-D9A6AD29FB42}"/>
</file>

<file path=docProps/app.xml><?xml version="1.0" encoding="utf-8"?>
<Properties xmlns="http://schemas.openxmlformats.org/officeDocument/2006/extended-properties" xmlns:vt="http://schemas.openxmlformats.org/officeDocument/2006/docPropsVTypes">
  <Template>{481CC1F0-F3C8-1246-A935-770FE254496A}tf16401369</Template>
  <TotalTime>3529</TotalTime>
  <Words>1203</Words>
  <Application>Microsoft Office PowerPoint</Application>
  <PresentationFormat>Widescreen</PresentationFormat>
  <Paragraphs>159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Introduction to Statistical Techniques</vt:lpstr>
      <vt:lpstr>Your Lecturer – Dr Petra Staynova</vt:lpstr>
      <vt:lpstr>Preliminaries</vt:lpstr>
      <vt:lpstr>Course structure</vt:lpstr>
      <vt:lpstr>Topics covered</vt:lpstr>
      <vt:lpstr>General concepts</vt:lpstr>
      <vt:lpstr>Terms: populations and samples</vt:lpstr>
      <vt:lpstr>Population or sample? - polls</vt:lpstr>
      <vt:lpstr>Terms: Variable</vt:lpstr>
      <vt:lpstr>Classification exercise</vt:lpstr>
      <vt:lpstr>Variable classification</vt:lpstr>
      <vt:lpstr>Statistical Inference</vt:lpstr>
      <vt:lpstr>Bell Curve</vt:lpstr>
      <vt:lpstr>Random Number Generation</vt:lpstr>
      <vt:lpstr>Main take home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Title</dc:title>
  <dc:creator>Lee Barnby</dc:creator>
  <cp:lastModifiedBy>Petra Staynova</cp:lastModifiedBy>
  <cp:revision>20</cp:revision>
  <dcterms:created xsi:type="dcterms:W3CDTF">2017-09-18T06:59:11Z</dcterms:created>
  <dcterms:modified xsi:type="dcterms:W3CDTF">2025-09-23T11:05:08Z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0x010100A8E9AC2D8CFB8B41AABCC159999A4638</vt:lpwstr>
  </property>
</Properties>
</file>